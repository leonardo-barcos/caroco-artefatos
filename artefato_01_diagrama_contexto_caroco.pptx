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B6E4A"/>
          </a:solidFill>
          <a:ln w="12700">
            <a:solidFill>
              <a:srgbClr val="3B6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A67C52"/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282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CAROÇO  |  Artefato 1 — Diagrama de Contexto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25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25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45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Artefato 1 — Diagrama de Contexto da Solução CAROÇO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externa do aplicativo dentro do ecossistema de dados, análise geoespacial e apoio à gestão de resíduos do açaí.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60520" y="2148840"/>
            <a:ext cx="3858768" cy="1353312"/>
          </a:xfrm>
          <a:prstGeom prst="roundRect">
            <a:avLst>
              <a:gd name="adj" fmla="val 10811"/>
            </a:avLst>
          </a:prstGeom>
          <a:solidFill>
            <a:srgbClr val="3B6E4A"/>
          </a:solidFill>
          <a:ln w="15240">
            <a:solidFill>
              <a:srgbClr val="2E5E3E"/>
            </a:solidFill>
            <a:prstDash val="solid"/>
          </a:ln>
          <a:effectLst>
            <a:outerShdw sx="100000" sy="100000" kx="0" ky="0" algn="bl" rotWithShape="0" blurRad="25400" dist="50800" dir="2700000">
              <a:srgbClr val="9E968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25112" y="225856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Aplicativo CAROÇO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25112" y="2542032"/>
            <a:ext cx="352958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dados dos batedores, resíduos, comercialização, benefícios e informações para análise.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0352" y="1965960"/>
            <a:ext cx="2880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3970">
            <a:solidFill>
              <a:srgbClr val="C8C2B7"/>
            </a:solidFill>
            <a:prstDash val="solid"/>
          </a:ln>
          <a:effectLst>
            <a:outerShdw sx="100000" sy="100000" kx="0" ky="0" algn="bl" rotWithShape="0" blurRad="20320" dist="50800" dir="2700000">
              <a:srgbClr val="CFC8BC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" y="2121408"/>
            <a:ext cx="402336" cy="402336"/>
          </a:xfrm>
          <a:prstGeom prst="ellipse">
            <a:avLst/>
          </a:prstGeom>
          <a:solidFill>
            <a:srgbClr val="E6F0E8"/>
          </a:solidFill>
          <a:ln w="12700">
            <a:solidFill>
              <a:srgbClr val="3B6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14884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" y="2093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4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Batedores de açaí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4944" y="2414016"/>
            <a:ext cx="255117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Informam localização, produção, preços, origem do fruto e resíduos gerados.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30352" y="4096512"/>
            <a:ext cx="288036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3970">
            <a:solidFill>
              <a:srgbClr val="C8C2B7"/>
            </a:solidFill>
            <a:prstDash val="solid"/>
          </a:ln>
          <a:effectLst>
            <a:outerShdw sx="100000" sy="100000" kx="0" ky="0" algn="bl" rotWithShape="0" blurRad="20320" dist="50800" dir="2700000">
              <a:srgbClr val="CFC8BC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656" y="4251960"/>
            <a:ext cx="402336" cy="402336"/>
          </a:xfrm>
          <a:prstGeom prst="ellipse">
            <a:avLst/>
          </a:prstGeom>
          <a:solidFill>
            <a:srgbClr val="E6F0E8"/>
          </a:solidFill>
          <a:ln w="12700">
            <a:solidFill>
              <a:srgbClr val="3B6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427939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" y="42245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4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Equipe do projeto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4944" y="4544568"/>
            <a:ext cx="255117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 cadastros, valida dados e ajusta a evolução do aplicativo.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750808" y="1499616"/>
            <a:ext cx="2907792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8C2B7"/>
            </a:solidFill>
            <a:prstDash val="solid"/>
          </a:ln>
          <a:effectLst>
            <a:outerShdw sx="100000" sy="100000" kx="0" ky="0" algn="bl" rotWithShape="0" blurRad="20320" dist="50800" dir="2700000">
              <a:srgbClr val="CFC8BC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97112" y="1655064"/>
            <a:ext cx="402336" cy="402336"/>
          </a:xfrm>
          <a:prstGeom prst="ellipse">
            <a:avLst/>
          </a:prstGeom>
          <a:solidFill>
            <a:srgbClr val="E6F0E8"/>
          </a:solidFill>
          <a:ln w="12700">
            <a:solidFill>
              <a:srgbClr val="3B6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7112" y="16824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72600" y="1627632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4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dados / API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915400" y="1947672"/>
            <a:ext cx="257860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Armazena registros e disponibiliza serviços para integração e consulta.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8750808" y="3172968"/>
            <a:ext cx="2907792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8C2B7"/>
            </a:solidFill>
            <a:prstDash val="solid"/>
          </a:ln>
          <a:effectLst>
            <a:outerShdw sx="100000" sy="100000" kx="0" ky="0" algn="bl" rotWithShape="0" blurRad="20320" dist="50800" dir="2700000">
              <a:srgbClr val="CFC8BC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97112" y="3328416"/>
            <a:ext cx="402336" cy="402336"/>
          </a:xfrm>
          <a:prstGeom prst="ellipse">
            <a:avLst/>
          </a:prstGeom>
          <a:solidFill>
            <a:srgbClr val="E6F0E8"/>
          </a:solidFill>
          <a:ln w="12700">
            <a:solidFill>
              <a:srgbClr val="3B6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97112" y="335584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3300984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4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 e análise geoespacial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915400" y="3621024"/>
            <a:ext cx="2578608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 mapas, áreas críticas e subsídios para rotas otimizadas.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8750808" y="4818888"/>
            <a:ext cx="290779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C8C2B7"/>
            </a:solidFill>
            <a:prstDash val="solid"/>
          </a:ln>
          <a:effectLst>
            <a:outerShdw sx="100000" sy="100000" kx="0" ky="0" algn="bl" rotWithShape="0" blurRad="20320" dist="50800" dir="2700000">
              <a:srgbClr val="CFC8BC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897112" y="4974336"/>
            <a:ext cx="402336" cy="402336"/>
          </a:xfrm>
          <a:prstGeom prst="ellipse">
            <a:avLst/>
          </a:prstGeom>
          <a:solidFill>
            <a:srgbClr val="E6F0E8"/>
          </a:solidFill>
          <a:ln w="12700">
            <a:solidFill>
              <a:srgbClr val="3B6E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97112" y="500176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E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72600" y="4946904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4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Gestores públicos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915400" y="5266944"/>
            <a:ext cx="257860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Utilizam relatórios e indicadores para apoio à decisão e políticas públicas.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4782312" y="3785616"/>
            <a:ext cx="2615184" cy="566928"/>
          </a:xfrm>
          <a:prstGeom prst="roundRect">
            <a:avLst>
              <a:gd name="adj" fmla="val 19355"/>
            </a:avLst>
          </a:prstGeom>
          <a:solidFill>
            <a:srgbClr val="E8F1E9"/>
          </a:solidFill>
          <a:ln w="12700">
            <a:solidFill>
              <a:srgbClr val="7EA5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941064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55C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 analítico / IA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410712" y="2587752"/>
            <a:ext cx="749808" cy="0"/>
          </a:xfrm>
          <a:prstGeom prst="line">
            <a:avLst/>
          </a:prstGeom>
          <a:noFill/>
          <a:ln w="26670">
            <a:solidFill>
              <a:srgbClr val="68816D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160520" y="2999232"/>
            <a:ext cx="-749808" cy="0"/>
          </a:xfrm>
          <a:prstGeom prst="line">
            <a:avLst/>
          </a:prstGeom>
          <a:noFill/>
          <a:ln w="26670">
            <a:solidFill>
              <a:srgbClr val="A67C5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19288" y="2432304"/>
            <a:ext cx="731520" cy="-246888"/>
          </a:xfrm>
          <a:prstGeom prst="line">
            <a:avLst/>
          </a:prstGeom>
          <a:noFill/>
          <a:ln w="26670">
            <a:solidFill>
              <a:srgbClr val="68816D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750808" y="2514600"/>
            <a:ext cx="-731520" cy="301752"/>
          </a:xfrm>
          <a:prstGeom prst="line">
            <a:avLst/>
          </a:prstGeom>
          <a:noFill/>
          <a:ln w="26670">
            <a:solidFill>
              <a:srgbClr val="A67C52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19288" y="3236976"/>
            <a:ext cx="731520" cy="521208"/>
          </a:xfrm>
          <a:prstGeom prst="line">
            <a:avLst/>
          </a:prstGeom>
          <a:noFill/>
          <a:ln w="26670">
            <a:solidFill>
              <a:srgbClr val="68816D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750808" y="4050792"/>
            <a:ext cx="-731520" cy="-484632"/>
          </a:xfrm>
          <a:prstGeom prst="line">
            <a:avLst/>
          </a:prstGeom>
          <a:noFill/>
          <a:ln w="26670">
            <a:solidFill>
              <a:srgbClr val="A67C52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089904" y="3502152"/>
            <a:ext cx="0" cy="283464"/>
          </a:xfrm>
          <a:prstGeom prst="line">
            <a:avLst/>
          </a:prstGeom>
          <a:noFill/>
          <a:ln w="26670">
            <a:solidFill>
              <a:srgbClr val="68816D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397496" y="4069080"/>
            <a:ext cx="1353312" cy="1124712"/>
          </a:xfrm>
          <a:prstGeom prst="line">
            <a:avLst/>
          </a:prstGeom>
          <a:noFill/>
          <a:ln w="25400">
            <a:solidFill>
              <a:srgbClr val="68816D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410712" y="4718304"/>
            <a:ext cx="905256" cy="-1216152"/>
          </a:xfrm>
          <a:prstGeom prst="line">
            <a:avLst/>
          </a:prstGeom>
          <a:noFill/>
          <a:ln w="24130">
            <a:solidFill>
              <a:srgbClr val="68816D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645920" y="1627632"/>
            <a:ext cx="1947672" cy="310896"/>
          </a:xfrm>
          <a:prstGeom prst="roundRect">
            <a:avLst>
              <a:gd name="adj" fmla="val 23529"/>
            </a:avLst>
          </a:prstGeom>
          <a:solidFill>
            <a:srgbClr val="F2EEE6">
              <a:alpha val="94000"/>
            </a:srgbClr>
          </a:solidFill>
          <a:ln w="8890">
            <a:solidFill>
              <a:srgbClr val="D6CFC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09928" y="1687068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 de campo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1664208" y="3200400"/>
            <a:ext cx="1901952" cy="310896"/>
          </a:xfrm>
          <a:prstGeom prst="roundRect">
            <a:avLst>
              <a:gd name="adj" fmla="val 23529"/>
            </a:avLst>
          </a:prstGeom>
          <a:solidFill>
            <a:srgbClr val="F2EEE6">
              <a:alpha val="94000"/>
            </a:srgbClr>
          </a:solidFill>
          <a:ln w="8890">
            <a:solidFill>
              <a:srgbClr val="D6CFC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28216" y="3259836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 ao usuário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7059168" y="1664208"/>
            <a:ext cx="1700784" cy="310896"/>
          </a:xfrm>
          <a:prstGeom prst="roundRect">
            <a:avLst>
              <a:gd name="adj" fmla="val 23529"/>
            </a:avLst>
          </a:prstGeom>
          <a:solidFill>
            <a:srgbClr val="F2EEE6">
              <a:alpha val="94000"/>
            </a:srgbClr>
          </a:solidFill>
          <a:ln w="8890">
            <a:solidFill>
              <a:srgbClr val="D6CFC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23176" y="172364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Persistência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7516368" y="3639312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F2EEE6">
              <a:alpha val="94000"/>
            </a:srgbClr>
          </a:solidFill>
          <a:ln w="8890">
            <a:solidFill>
              <a:srgbClr val="D6CFC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0376" y="369874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Integração SIG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6729984" y="4626864"/>
            <a:ext cx="2212848" cy="310896"/>
          </a:xfrm>
          <a:prstGeom prst="roundRect">
            <a:avLst>
              <a:gd name="adj" fmla="val 23529"/>
            </a:avLst>
          </a:prstGeom>
          <a:solidFill>
            <a:srgbClr val="F2EEE6">
              <a:alpha val="94000"/>
            </a:srgbClr>
          </a:solidFill>
          <a:ln w="8890">
            <a:solidFill>
              <a:srgbClr val="D6CFC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93992" y="468630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Relatórios e indicadores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530352" y="5742432"/>
            <a:ext cx="11137392" cy="438912"/>
          </a:xfrm>
          <a:prstGeom prst="roundRect">
            <a:avLst>
              <a:gd name="adj" fmla="val 25000"/>
            </a:avLst>
          </a:prstGeom>
          <a:solidFill>
            <a:srgbClr val="EFE9DF"/>
          </a:solidFill>
          <a:ln w="11430">
            <a:solidFill>
              <a:srgbClr val="D9C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" y="5879592"/>
            <a:ext cx="7269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do diagrama: o aplicativo atua como ponto de coleta e articulação de dados para análise, gestão territorial e apoio à decisão.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8339328" y="579729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24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Legenda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9098280" y="5870448"/>
            <a:ext cx="365760" cy="0"/>
          </a:xfrm>
          <a:prstGeom prst="line">
            <a:avLst/>
          </a:prstGeom>
          <a:noFill/>
          <a:ln w="25400">
            <a:solidFill>
              <a:srgbClr val="68816D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9528048" y="57972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de dados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10661904" y="5870448"/>
            <a:ext cx="365760" cy="0"/>
          </a:xfrm>
          <a:prstGeom prst="line">
            <a:avLst/>
          </a:prstGeom>
          <a:noFill/>
          <a:ln w="25400">
            <a:solidFill>
              <a:srgbClr val="A67C52"/>
            </a:solidFill>
            <a:prstDash val="solid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11091672" y="579729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B5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Retorno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25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Projeto CAROÇO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Contexto da Solução CAROÇO</dc:title>
  <dc:subject>Artefato 1 - Diagrama de contexto da solução CAROÇO</dc:subject>
  <dc:creator>Projeto app caroço</dc:creator>
  <cp:lastModifiedBy>Projeto app caroço</cp:lastModifiedBy>
  <cp:revision>1</cp:revision>
  <dcterms:created xsi:type="dcterms:W3CDTF">2026-05-15T22:27:29Z</dcterms:created>
  <dcterms:modified xsi:type="dcterms:W3CDTF">2026-05-15T22:27:29Z</dcterms:modified>
</cp:coreProperties>
</file>