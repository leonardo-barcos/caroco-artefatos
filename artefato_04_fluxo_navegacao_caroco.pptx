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46888"/>
            <a:ext cx="11201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B3D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Artefato 4 — Fluxo de Navegação do Aplicativo CAROÇO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530352" y="6858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Jornada proposta do usuário: entrada no app, registro de dados em campo, sincronização e encaminhamento das informações para SIG, IA e gestão pública.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3300984"/>
            <a:ext cx="11109960" cy="0"/>
          </a:xfrm>
          <a:prstGeom prst="line">
            <a:avLst/>
          </a:prstGeom>
          <a:noFill/>
          <a:ln w="9525">
            <a:solidFill>
              <a:srgbClr val="0B3D2E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5742432"/>
            <a:ext cx="11109960" cy="0"/>
          </a:xfrm>
          <a:prstGeom prst="line">
            <a:avLst/>
          </a:prstGeom>
          <a:noFill/>
          <a:ln w="9525">
            <a:solidFill>
              <a:srgbClr val="1565C0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2161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principal do batedor de açaí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49808" y="35753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Saídas de dados e navegação de apoio à gestão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2167128" y="2212848"/>
            <a:ext cx="265176" cy="0"/>
          </a:xfrm>
          <a:prstGeom prst="line">
            <a:avLst/>
          </a:prstGeom>
          <a:noFill/>
          <a:ln w="17780">
            <a:solidFill>
              <a:srgbClr val="2E7D32">
                <a:alpha val="94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31920" y="2212848"/>
            <a:ext cx="265176" cy="0"/>
          </a:xfrm>
          <a:prstGeom prst="line">
            <a:avLst/>
          </a:prstGeom>
          <a:noFill/>
          <a:ln w="17780">
            <a:solidFill>
              <a:srgbClr val="2E7D32">
                <a:alpha val="94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96712" y="2212848"/>
            <a:ext cx="265176" cy="0"/>
          </a:xfrm>
          <a:prstGeom prst="line">
            <a:avLst/>
          </a:prstGeom>
          <a:noFill/>
          <a:ln w="17780">
            <a:solidFill>
              <a:srgbClr val="2E7D32">
                <a:alpha val="94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61504" y="2212848"/>
            <a:ext cx="265176" cy="0"/>
          </a:xfrm>
          <a:prstGeom prst="line">
            <a:avLst/>
          </a:prstGeom>
          <a:noFill/>
          <a:ln w="17780">
            <a:solidFill>
              <a:srgbClr val="2E7D32">
                <a:alpha val="94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226296" y="2212848"/>
            <a:ext cx="265176" cy="0"/>
          </a:xfrm>
          <a:prstGeom prst="line">
            <a:avLst/>
          </a:prstGeom>
          <a:noFill/>
          <a:ln w="17780">
            <a:solidFill>
              <a:srgbClr val="2E7D32">
                <a:alpha val="94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287000" y="2743200"/>
            <a:ext cx="137160" cy="1051560"/>
          </a:xfrm>
          <a:prstGeom prst="line">
            <a:avLst/>
          </a:prstGeom>
          <a:noFill/>
          <a:ln w="16510">
            <a:solidFill>
              <a:srgbClr val="1565C0">
                <a:alpha val="94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528048" y="4389120"/>
            <a:ext cx="-658368" cy="0"/>
          </a:xfrm>
          <a:prstGeom prst="line">
            <a:avLst/>
          </a:prstGeom>
          <a:noFill/>
          <a:ln w="15240">
            <a:solidFill>
              <a:srgbClr val="1565C0">
                <a:alpha val="94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67728" y="4389120"/>
            <a:ext cx="-694944" cy="0"/>
          </a:xfrm>
          <a:prstGeom prst="line">
            <a:avLst/>
          </a:prstGeom>
          <a:noFill/>
          <a:ln w="15240">
            <a:solidFill>
              <a:srgbClr val="6A1B9A">
                <a:alpha val="94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370832" y="4389120"/>
            <a:ext cx="-694944" cy="0"/>
          </a:xfrm>
          <a:prstGeom prst="line">
            <a:avLst/>
          </a:prstGeom>
          <a:noFill/>
          <a:ln w="15240">
            <a:solidFill>
              <a:srgbClr val="EF6C00">
                <a:alpha val="94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9808" y="1627632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1F8E9"/>
          </a:solidFill>
          <a:ln w="14605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1746504"/>
            <a:ext cx="347472" cy="347472"/>
          </a:xfrm>
          <a:prstGeom prst="rect">
            <a:avLst/>
          </a:prstGeom>
          <a:solidFill>
            <a:srgbClr val="43A047"/>
          </a:solidFill>
          <a:ln w="10160">
            <a:solidFill>
              <a:srgbClr val="43A04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261872" y="1719072"/>
            <a:ext cx="7955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Acesso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896112" y="2121408"/>
            <a:ext cx="11247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ou cadastro inicial do batedor participante.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2514600" y="1627632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1F8E9"/>
          </a:solidFill>
          <a:ln w="14605">
            <a:solidFill>
              <a:srgbClr val="43A0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24328" y="1746504"/>
            <a:ext cx="347472" cy="347472"/>
          </a:xfrm>
          <a:prstGeom prst="rect">
            <a:avLst/>
          </a:prstGeom>
          <a:solidFill>
            <a:srgbClr val="43A047"/>
          </a:solidFill>
          <a:ln w="10160">
            <a:solidFill>
              <a:srgbClr val="43A04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026664" y="1719072"/>
            <a:ext cx="7955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Início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2660904" y="2121408"/>
            <a:ext cx="11247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Painel simples com atalhos para registro, resíduos e histórico.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4279392" y="1627632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1F8E9"/>
          </a:solidFill>
          <a:ln w="14605">
            <a:solidFill>
              <a:srgbClr val="43A0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1746504"/>
            <a:ext cx="347472" cy="347472"/>
          </a:xfrm>
          <a:prstGeom prst="rect">
            <a:avLst/>
          </a:prstGeom>
          <a:solidFill>
            <a:srgbClr val="43A047"/>
          </a:solidFill>
          <a:ln w="10160">
            <a:solidFill>
              <a:srgbClr val="43A04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91456" y="1719072"/>
            <a:ext cx="7955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</a:t>
            </a:r>
            <a:endParaRPr lang="en-US" sz="1230" dirty="0"/>
          </a:p>
        </p:txBody>
      </p:sp>
      <p:sp>
        <p:nvSpPr>
          <p:cNvPr id="30" name="Text 28"/>
          <p:cNvSpPr/>
          <p:nvPr/>
        </p:nvSpPr>
        <p:spPr>
          <a:xfrm>
            <a:off x="4425696" y="2121408"/>
            <a:ext cx="11247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Quantidade processada, origem do fruto, compra, venda e data.</a:t>
            </a:r>
            <a:endParaRPr lang="en-US" sz="890" dirty="0"/>
          </a:p>
        </p:txBody>
      </p:sp>
      <p:sp>
        <p:nvSpPr>
          <p:cNvPr id="31" name="Shape 29"/>
          <p:cNvSpPr/>
          <p:nvPr/>
        </p:nvSpPr>
        <p:spPr>
          <a:xfrm>
            <a:off x="6044184" y="1627632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1F8E9"/>
          </a:solidFill>
          <a:ln w="14605">
            <a:solidFill>
              <a:srgbClr val="43A0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53912" y="1746504"/>
            <a:ext cx="347472" cy="347472"/>
          </a:xfrm>
          <a:prstGeom prst="rect">
            <a:avLst/>
          </a:prstGeom>
          <a:solidFill>
            <a:srgbClr val="43A047"/>
          </a:solidFill>
          <a:ln w="10160">
            <a:solidFill>
              <a:srgbClr val="43A04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56248" y="1719072"/>
            <a:ext cx="7955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Resíduos</a:t>
            </a:r>
            <a:endParaRPr lang="en-US" sz="1230" dirty="0"/>
          </a:p>
        </p:txBody>
      </p:sp>
      <p:sp>
        <p:nvSpPr>
          <p:cNvPr id="34" name="Text 32"/>
          <p:cNvSpPr/>
          <p:nvPr/>
        </p:nvSpPr>
        <p:spPr>
          <a:xfrm>
            <a:off x="6190488" y="2121408"/>
            <a:ext cx="11247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Caroço, bagaço, miriti, pataua e informações de coleta.</a:t>
            </a:r>
            <a:endParaRPr lang="en-US" sz="890" dirty="0"/>
          </a:p>
        </p:txBody>
      </p:sp>
      <p:sp>
        <p:nvSpPr>
          <p:cNvPr id="35" name="Shape 33"/>
          <p:cNvSpPr/>
          <p:nvPr/>
        </p:nvSpPr>
        <p:spPr>
          <a:xfrm>
            <a:off x="7808976" y="1627632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1F8E9"/>
          </a:solidFill>
          <a:ln w="14605">
            <a:solidFill>
              <a:srgbClr val="43A0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18704" y="1746504"/>
            <a:ext cx="347472" cy="347472"/>
          </a:xfrm>
          <a:prstGeom prst="rect">
            <a:avLst/>
          </a:prstGeom>
          <a:solidFill>
            <a:srgbClr val="43A047"/>
          </a:solidFill>
          <a:ln w="10160">
            <a:solidFill>
              <a:srgbClr val="43A04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321040" y="1719072"/>
            <a:ext cx="7955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Benefícios</a:t>
            </a:r>
            <a:endParaRPr lang="en-US" sz="1230" dirty="0"/>
          </a:p>
        </p:txBody>
      </p:sp>
      <p:sp>
        <p:nvSpPr>
          <p:cNvPr id="38" name="Text 36"/>
          <p:cNvSpPr/>
          <p:nvPr/>
        </p:nvSpPr>
        <p:spPr>
          <a:xfrm>
            <a:off x="7955280" y="2121408"/>
            <a:ext cx="11247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de participação, histórico e possíveis incentivos.</a:t>
            </a:r>
            <a:endParaRPr lang="en-US" sz="890" dirty="0"/>
          </a:p>
        </p:txBody>
      </p:sp>
      <p:sp>
        <p:nvSpPr>
          <p:cNvPr id="39" name="Shape 37"/>
          <p:cNvSpPr/>
          <p:nvPr/>
        </p:nvSpPr>
        <p:spPr>
          <a:xfrm>
            <a:off x="9573768" y="1627632"/>
            <a:ext cx="1417320" cy="1097280"/>
          </a:xfrm>
          <a:prstGeom prst="roundRect">
            <a:avLst>
              <a:gd name="adj" fmla="val 4167"/>
            </a:avLst>
          </a:prstGeom>
          <a:solidFill>
            <a:srgbClr val="F1F8E9"/>
          </a:solidFill>
          <a:ln w="14605">
            <a:solidFill>
              <a:srgbClr val="43A0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83496" y="1746504"/>
            <a:ext cx="347472" cy="347472"/>
          </a:xfrm>
          <a:prstGeom prst="rect">
            <a:avLst/>
          </a:prstGeom>
          <a:solidFill>
            <a:srgbClr val="43A047"/>
          </a:solidFill>
          <a:ln w="10160">
            <a:solidFill>
              <a:srgbClr val="43A047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085832" y="1719072"/>
            <a:ext cx="79552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Envio</a:t>
            </a:r>
            <a:endParaRPr lang="en-US" sz="1230" dirty="0"/>
          </a:p>
        </p:txBody>
      </p:sp>
      <p:sp>
        <p:nvSpPr>
          <p:cNvPr id="42" name="Text 40"/>
          <p:cNvSpPr/>
          <p:nvPr/>
        </p:nvSpPr>
        <p:spPr>
          <a:xfrm>
            <a:off x="9720072" y="2121408"/>
            <a:ext cx="11247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Sincronização com a base do projeto e atualização dos registros.</a:t>
            </a:r>
            <a:endParaRPr lang="en-US" sz="890" dirty="0"/>
          </a:p>
        </p:txBody>
      </p:sp>
      <p:sp>
        <p:nvSpPr>
          <p:cNvPr id="43" name="Shape 41"/>
          <p:cNvSpPr/>
          <p:nvPr/>
        </p:nvSpPr>
        <p:spPr>
          <a:xfrm>
            <a:off x="9528048" y="3886200"/>
            <a:ext cx="1783080" cy="987552"/>
          </a:xfrm>
          <a:prstGeom prst="roundRect">
            <a:avLst>
              <a:gd name="adj" fmla="val 4630"/>
            </a:avLst>
          </a:prstGeom>
          <a:solidFill>
            <a:srgbClr val="E3F2FD"/>
          </a:solidFill>
          <a:ln w="1397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37776" y="3959352"/>
            <a:ext cx="15636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dados / API</a:t>
            </a:r>
            <a:endParaRPr lang="en-US" sz="1120" dirty="0"/>
          </a:p>
        </p:txBody>
      </p:sp>
      <p:sp>
        <p:nvSpPr>
          <p:cNvPr id="45" name="Text 43"/>
          <p:cNvSpPr/>
          <p:nvPr/>
        </p:nvSpPr>
        <p:spPr>
          <a:xfrm>
            <a:off x="9637776" y="4242816"/>
            <a:ext cx="15636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Centraliza registros validados para consulta, auditoria e integração.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6967728" y="3886200"/>
            <a:ext cx="1783080" cy="987552"/>
          </a:xfrm>
          <a:prstGeom prst="roundRect">
            <a:avLst>
              <a:gd name="adj" fmla="val 4630"/>
            </a:avLst>
          </a:prstGeom>
          <a:solidFill>
            <a:srgbClr val="F3E5F5"/>
          </a:solidFill>
          <a:ln w="13970">
            <a:solidFill>
              <a:srgbClr val="6A1B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77456" y="3959352"/>
            <a:ext cx="15636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6A1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 / mapas</a:t>
            </a:r>
            <a:endParaRPr lang="en-US" sz="1120" dirty="0"/>
          </a:p>
        </p:txBody>
      </p:sp>
      <p:sp>
        <p:nvSpPr>
          <p:cNvPr id="48" name="Text 46"/>
          <p:cNvSpPr/>
          <p:nvPr/>
        </p:nvSpPr>
        <p:spPr>
          <a:xfrm>
            <a:off x="7077456" y="4242816"/>
            <a:ext cx="15636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 dados georreferenciados em camadas, áreas críticas e rotas.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4370832" y="3886200"/>
            <a:ext cx="1783080" cy="987552"/>
          </a:xfrm>
          <a:prstGeom prst="roundRect">
            <a:avLst>
              <a:gd name="adj" fmla="val 4630"/>
            </a:avLst>
          </a:prstGeom>
          <a:solidFill>
            <a:srgbClr val="FFF3E0"/>
          </a:solidFill>
          <a:ln w="13970">
            <a:solidFill>
              <a:srgbClr val="EF6C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3959352"/>
            <a:ext cx="15636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F6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/ mercado</a:t>
            </a:r>
            <a:endParaRPr lang="en-US" sz="1120" dirty="0"/>
          </a:p>
        </p:txBody>
      </p:sp>
      <p:sp>
        <p:nvSpPr>
          <p:cNvPr id="51" name="Text 49"/>
          <p:cNvSpPr/>
          <p:nvPr/>
        </p:nvSpPr>
        <p:spPr>
          <a:xfrm>
            <a:off x="4480560" y="4242816"/>
            <a:ext cx="15636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 indicadores de preço médio, período, origem e sazonalidade.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1783080" y="3886200"/>
            <a:ext cx="1783080" cy="987552"/>
          </a:xfrm>
          <a:prstGeom prst="roundRect">
            <a:avLst>
              <a:gd name="adj" fmla="val 4630"/>
            </a:avLst>
          </a:prstGeom>
          <a:solidFill>
            <a:srgbClr val="E8F5E9"/>
          </a:solidFill>
          <a:ln w="13970">
            <a:solidFill>
              <a:srgbClr val="0B3D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92808" y="3959352"/>
            <a:ext cx="15636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B3D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Gestão pública</a:t>
            </a:r>
            <a:endParaRPr lang="en-US" sz="1120" dirty="0"/>
          </a:p>
        </p:txBody>
      </p:sp>
      <p:sp>
        <p:nvSpPr>
          <p:cNvPr id="54" name="Text 52"/>
          <p:cNvSpPr/>
          <p:nvPr/>
        </p:nvSpPr>
        <p:spPr>
          <a:xfrm>
            <a:off x="1892808" y="4242816"/>
            <a:ext cx="15636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Apoia coleta seletiva, campanhas educativas e decisões institucionais.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3657600" y="5193792"/>
            <a:ext cx="7653528" cy="292608"/>
          </a:xfrm>
          <a:prstGeom prst="roundRect">
            <a:avLst>
              <a:gd name="adj" fmla="val 12500"/>
            </a:avLst>
          </a:prstGeom>
          <a:solidFill>
            <a:srgbClr val="EFEBE9"/>
          </a:solidFill>
          <a:ln w="8890">
            <a:solidFill>
              <a:srgbClr val="6D4C41">
                <a:alpha val="88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94760" y="5239512"/>
            <a:ext cx="73792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6D4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 administrativa: equipe do projeto configura cadastros e tipos de resíduos, valida informações, acompanha indicadores e exporta resultados para o SIG.</a:t>
            </a:r>
            <a:endParaRPr lang="en-US" sz="890" dirty="0"/>
          </a:p>
        </p:txBody>
      </p:sp>
      <p:sp>
        <p:nvSpPr>
          <p:cNvPr id="57" name="Shape 55"/>
          <p:cNvSpPr/>
          <p:nvPr/>
        </p:nvSpPr>
        <p:spPr>
          <a:xfrm>
            <a:off x="749808" y="5193792"/>
            <a:ext cx="2542032" cy="292608"/>
          </a:xfrm>
          <a:prstGeom prst="roundRect">
            <a:avLst>
              <a:gd name="adj" fmla="val 12500"/>
            </a:avLst>
          </a:prstGeom>
          <a:solidFill>
            <a:srgbClr val="FFFDE7"/>
          </a:solidFill>
          <a:ln w="8890">
            <a:solidFill>
              <a:srgbClr val="FBC02D">
                <a:alpha val="94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7824" y="5239512"/>
            <a:ext cx="22860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6D4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app devolve ao batedor histórico, benefícios e indicadores simples.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530352" y="6236208"/>
            <a:ext cx="11155680" cy="292608"/>
          </a:xfrm>
          <a:prstGeom prst="roundRect">
            <a:avLst>
              <a:gd name="adj" fmla="val 12500"/>
            </a:avLst>
          </a:prstGeom>
          <a:solidFill>
            <a:srgbClr val="EFEBE9"/>
          </a:solidFill>
          <a:ln w="8890">
            <a:solidFill>
              <a:srgbClr val="6D4C41">
                <a:alpha val="92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" y="6281928"/>
            <a:ext cx="108264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D4C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do fluxo: o aplicativo prioriza uma navegação curta para facilitar o registro em campo e, ao mesmo tempo, gerar dados estruturados para SIG, relatórios e análise de mercado.</a:t>
            </a:r>
            <a:endParaRPr lang="en-US" sz="920" dirty="0"/>
          </a:p>
        </p:txBody>
      </p:sp>
      <p:sp>
        <p:nvSpPr>
          <p:cNvPr id="61" name="Text 59"/>
          <p:cNvSpPr/>
          <p:nvPr/>
        </p:nvSpPr>
        <p:spPr>
          <a:xfrm>
            <a:off x="566928" y="656539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documentação do Projeto CAROÇO — síntese dos requisitos do app, coleta de dados, coleta seletiva, SIG e análise de mercado com IA.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Projeto CAROÇO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Artefato 4 - Fluxo de Navegação do Aplicativo CAROÇO</dc:title>
  <dc:subject>Fluxo de Navegação do Aplicativo CAROÇO</dc:subject>
  <dc:creator>OpenAI</dc:creator>
  <cp:lastModifiedBy>OpenAI</cp:lastModifiedBy>
  <cp:revision>1</cp:revision>
  <dcterms:created xsi:type="dcterms:W3CDTF">2026-05-15T23:05:32Z</dcterms:created>
  <dcterms:modified xsi:type="dcterms:W3CDTF">2026-05-15T23:05:32Z</dcterms:modified>
</cp:coreProperties>
</file>