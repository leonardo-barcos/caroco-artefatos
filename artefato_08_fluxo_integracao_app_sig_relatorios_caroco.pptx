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693408"/>
            <a:ext cx="12191695" cy="164592"/>
          </a:xfrm>
          <a:prstGeom prst="rect">
            <a:avLst/>
          </a:prstGeom>
          <a:solidFill>
            <a:srgbClr val="0B3D2E"/>
          </a:solidFill>
          <a:ln w="12700">
            <a:solidFill>
              <a:srgbClr val="0B3D2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310896"/>
            <a:ext cx="1234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766E"/>
                </a:solidFill>
              </a:rPr>
              <a:t>Artefato 8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02920" y="566928"/>
            <a:ext cx="9052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F172A"/>
                </a:solidFill>
              </a:rPr>
              <a:t>Fluxo de Integração App → Base → SIG → Relatórios</a:t>
            </a:r>
            <a:endParaRPr lang="en-US" sz="2500" dirty="0"/>
          </a:p>
        </p:txBody>
      </p:sp>
      <p:sp>
        <p:nvSpPr>
          <p:cNvPr id="6" name="Text 4"/>
          <p:cNvSpPr/>
          <p:nvPr/>
        </p:nvSpPr>
        <p:spPr>
          <a:xfrm>
            <a:off x="530352" y="987552"/>
            <a:ext cx="9875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</a:rPr>
              <a:t>Caminho dos dados desde o registro em campo até o apoio à decisão pública e análise de mercado.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0287000" y="438912"/>
            <a:ext cx="1325880" cy="347472"/>
          </a:xfrm>
          <a:prstGeom prst="roundRect">
            <a:avLst>
              <a:gd name="adj" fmla="val 21053"/>
            </a:avLst>
          </a:prstGeom>
          <a:solidFill>
            <a:srgbClr val="0B3D2E"/>
          </a:solidFill>
          <a:ln>
            <a:solidFill>
              <a:srgbClr val="0B3D2E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CAROÇO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02920" y="6419088"/>
            <a:ext cx="6400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</a:rPr>
              <a:t>Documentação do arcabouço tecnológico do aplicativo CAROÇO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9326880" y="6419088"/>
            <a:ext cx="2331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475569"/>
                </a:solidFill>
              </a:rPr>
              <a:t>IFPA Campus Ananindeua</a:t>
            </a:r>
            <a:endParaRPr lang="en-US" sz="750" dirty="0"/>
          </a:p>
        </p:txBody>
      </p:sp>
      <p:sp>
        <p:nvSpPr>
          <p:cNvPr id="10" name="Shape 8"/>
          <p:cNvSpPr/>
          <p:nvPr/>
        </p:nvSpPr>
        <p:spPr>
          <a:xfrm>
            <a:off x="2075688" y="3383280"/>
            <a:ext cx="301752" cy="0"/>
          </a:xfrm>
          <a:prstGeom prst="line">
            <a:avLst/>
          </a:prstGeom>
          <a:noFill/>
          <a:ln w="20320">
            <a:solidFill>
              <a:srgbClr val="475569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3904488" y="3383280"/>
            <a:ext cx="301752" cy="0"/>
          </a:xfrm>
          <a:prstGeom prst="line">
            <a:avLst/>
          </a:prstGeom>
          <a:noFill/>
          <a:ln w="20320">
            <a:solidFill>
              <a:srgbClr val="475569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5733288" y="3383280"/>
            <a:ext cx="438912" cy="0"/>
          </a:xfrm>
          <a:prstGeom prst="line">
            <a:avLst/>
          </a:prstGeom>
          <a:noFill/>
          <a:ln w="20320">
            <a:solidFill>
              <a:srgbClr val="475569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7699248" y="3383280"/>
            <a:ext cx="438912" cy="0"/>
          </a:xfrm>
          <a:prstGeom prst="line">
            <a:avLst/>
          </a:prstGeom>
          <a:noFill/>
          <a:ln w="20320">
            <a:solidFill>
              <a:srgbClr val="475569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9665208" y="3383280"/>
            <a:ext cx="347472" cy="0"/>
          </a:xfrm>
          <a:prstGeom prst="line">
            <a:avLst/>
          </a:prstGeom>
          <a:noFill/>
          <a:ln w="20320">
            <a:solidFill>
              <a:srgbClr val="475569"/>
            </a:solidFill>
            <a:prstDash val="solid"/>
            <a:tailEnd type="triangle"/>
          </a:ln>
        </p:spPr>
      </p:sp>
      <p:sp>
        <p:nvSpPr>
          <p:cNvPr id="15" name="Text 13"/>
          <p:cNvSpPr/>
          <p:nvPr/>
        </p:nvSpPr>
        <p:spPr>
          <a:xfrm>
            <a:off x="594360" y="2971800"/>
            <a:ext cx="1481328" cy="822960"/>
          </a:xfrm>
          <a:prstGeom prst="roundRect">
            <a:avLst>
              <a:gd name="adj" fmla="val 8889"/>
            </a:avLst>
          </a:prstGeom>
          <a:solidFill>
            <a:srgbClr val="DCFCE7"/>
          </a:solidFill>
          <a:ln w="12700">
            <a:solidFill>
              <a:srgbClr val="0F766E"/>
            </a:solidFill>
          </a:ln>
          <a:effectLst>
            <a:outerShdw sx="100000" sy="100000" kx="0" ky="0" algn="bl" rotWithShape="0" blurRad="19050" dist="12700" dir="2700000">
              <a:srgbClr val="000000">
                <a:alpha val="12000"/>
              </a:srgbClr>
            </a:outerShdw>
          </a:effectLst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Aplicativo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CAROÇO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2423160" y="2971800"/>
            <a:ext cx="1481328" cy="822960"/>
          </a:xfrm>
          <a:prstGeom prst="roundRect">
            <a:avLst>
              <a:gd name="adj" fmla="val 8889"/>
            </a:avLst>
          </a:prstGeom>
          <a:solidFill>
            <a:srgbClr val="DBEAFE"/>
          </a:solidFill>
          <a:ln w="12700">
            <a:solidFill>
              <a:srgbClr val="2563EB"/>
            </a:solidFill>
          </a:ln>
          <a:effectLst>
            <a:outerShdw sx="100000" sy="100000" kx="0" ky="0" algn="bl" rotWithShape="0" blurRad="19050" dist="12700" dir="2700000">
              <a:srgbClr val="000000">
                <a:alpha val="12000"/>
              </a:srgbClr>
            </a:outerShdw>
          </a:effectLst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API /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Formulário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251960" y="2971800"/>
            <a:ext cx="1481328" cy="822960"/>
          </a:xfrm>
          <a:prstGeom prst="roundRect">
            <a:avLst>
              <a:gd name="adj" fmla="val 8889"/>
            </a:avLst>
          </a:prstGeom>
          <a:solidFill>
            <a:srgbClr val="FEF3C7"/>
          </a:solidFill>
          <a:ln w="12700">
            <a:solidFill>
              <a:srgbClr val="F59E0B"/>
            </a:solidFill>
          </a:ln>
          <a:effectLst>
            <a:outerShdw sx="100000" sy="100000" kx="0" ky="0" algn="bl" rotWithShape="0" blurRad="19050" dist="12700" dir="2700000">
              <a:srgbClr val="000000">
                <a:alpha val="12000"/>
              </a:srgbClr>
            </a:outerShdw>
          </a:effectLst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Base de Dados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CSV/PostGIS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217920" y="2971800"/>
            <a:ext cx="1481328" cy="822960"/>
          </a:xfrm>
          <a:prstGeom prst="roundRect">
            <a:avLst>
              <a:gd name="adj" fmla="val 8889"/>
            </a:avLst>
          </a:prstGeom>
          <a:solidFill>
            <a:srgbClr val="EDE9FE"/>
          </a:solidFill>
          <a:ln w="12700">
            <a:solidFill>
              <a:srgbClr val="7C3AED"/>
            </a:solidFill>
          </a:ln>
          <a:effectLst>
            <a:outerShdw sx="100000" sy="100000" kx="0" ky="0" algn="bl" rotWithShape="0" blurRad="19050" dist="12700" dir="2700000">
              <a:srgbClr val="000000">
                <a:alpha val="12000"/>
              </a:srgbClr>
            </a:outerShdw>
          </a:effectLst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SIG / QGIS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Mapas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8183880" y="2971800"/>
            <a:ext cx="1481328" cy="822960"/>
          </a:xfrm>
          <a:prstGeom prst="roundRect">
            <a:avLst>
              <a:gd name="adj" fmla="val 8889"/>
            </a:avLst>
          </a:prstGeom>
          <a:solidFill>
            <a:srgbClr val="FEE2E2"/>
          </a:solidFill>
          <a:ln w="12700">
            <a:solidFill>
              <a:srgbClr val="DC2626"/>
            </a:solidFill>
          </a:ln>
          <a:effectLst>
            <a:outerShdw sx="100000" sy="100000" kx="0" ky="0" algn="bl" rotWithShape="0" blurRad="19050" dist="12700" dir="2700000">
              <a:srgbClr val="000000">
                <a:alpha val="12000"/>
              </a:srgbClr>
            </a:outerShdw>
          </a:effectLst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IA / Analytics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Indicadores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10058400" y="2971800"/>
            <a:ext cx="1481328" cy="822960"/>
          </a:xfrm>
          <a:prstGeom prst="roundRect">
            <a:avLst>
              <a:gd name="adj" fmla="val 8889"/>
            </a:avLst>
          </a:prstGeom>
          <a:solidFill>
            <a:srgbClr val="ECFDF5"/>
          </a:solidFill>
          <a:ln w="12700">
            <a:solidFill>
              <a:srgbClr val="0F766E"/>
            </a:solidFill>
          </a:ln>
          <a:effectLst>
            <a:outerShdw sx="100000" sy="100000" kx="0" ky="0" algn="bl" rotWithShape="0" blurRad="19050" dist="12700" dir="2700000">
              <a:srgbClr val="000000">
                <a:alpha val="12000"/>
              </a:srgbClr>
            </a:outerShdw>
          </a:effectLst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Relatórios 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Gestores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822960" y="1417320"/>
            <a:ext cx="2240280" cy="347472"/>
          </a:xfrm>
          <a:prstGeom prst="roundRect">
            <a:avLst>
              <a:gd name="adj" fmla="val 21053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F172A"/>
                </a:solidFill>
              </a:rPr>
              <a:t>1. Registro em campo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822960" y="1874520"/>
            <a:ext cx="224028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860" dirty="0">
                <a:solidFill>
                  <a:srgbClr val="475569"/>
                </a:solidFill>
              </a:rPr>
              <a:t>Batedor informa localização, quantidade, preço, origem, data e resíduos.</a:t>
            </a:r>
            <a:endParaRPr lang="en-US" sz="860" dirty="0"/>
          </a:p>
        </p:txBody>
      </p:sp>
      <p:sp>
        <p:nvSpPr>
          <p:cNvPr id="23" name="Text 21"/>
          <p:cNvSpPr/>
          <p:nvPr/>
        </p:nvSpPr>
        <p:spPr>
          <a:xfrm>
            <a:off x="3611880" y="1417320"/>
            <a:ext cx="2240280" cy="347472"/>
          </a:xfrm>
          <a:prstGeom prst="roundRect">
            <a:avLst>
              <a:gd name="adj" fmla="val 21053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F172A"/>
                </a:solidFill>
              </a:rPr>
              <a:t>2. Validação e armazenamento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3611880" y="1874520"/>
            <a:ext cx="224028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860" dirty="0">
                <a:solidFill>
                  <a:srgbClr val="475569"/>
                </a:solidFill>
              </a:rPr>
              <a:t>Dados são organizados em tabelas, com padronização de unidades e georreferência.</a:t>
            </a:r>
            <a:endParaRPr lang="en-US" sz="860" dirty="0"/>
          </a:p>
        </p:txBody>
      </p:sp>
      <p:sp>
        <p:nvSpPr>
          <p:cNvPr id="25" name="Text 23"/>
          <p:cNvSpPr/>
          <p:nvPr/>
        </p:nvSpPr>
        <p:spPr>
          <a:xfrm>
            <a:off x="6400800" y="1417320"/>
            <a:ext cx="2240280" cy="347472"/>
          </a:xfrm>
          <a:prstGeom prst="roundRect">
            <a:avLst>
              <a:gd name="adj" fmla="val 21053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F172A"/>
                </a:solidFill>
              </a:rPr>
              <a:t>3. Processamento geoespacial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6400800" y="1874520"/>
            <a:ext cx="224028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860" dirty="0">
                <a:solidFill>
                  <a:srgbClr val="475569"/>
                </a:solidFill>
              </a:rPr>
              <a:t>QGIS/PostGIS gera camadas: pontos, volumes, bairros críticos e rotas.</a:t>
            </a:r>
            <a:endParaRPr lang="en-US" sz="860" dirty="0"/>
          </a:p>
        </p:txBody>
      </p:sp>
      <p:sp>
        <p:nvSpPr>
          <p:cNvPr id="27" name="Text 25"/>
          <p:cNvSpPr/>
          <p:nvPr/>
        </p:nvSpPr>
        <p:spPr>
          <a:xfrm>
            <a:off x="9189720" y="1417320"/>
            <a:ext cx="2240280" cy="347472"/>
          </a:xfrm>
          <a:prstGeom prst="roundRect">
            <a:avLst>
              <a:gd name="adj" fmla="val 21053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F172A"/>
                </a:solidFill>
              </a:rPr>
              <a:t>4. Apoio à decisão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9189720" y="1874520"/>
            <a:ext cx="224028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860" dirty="0">
                <a:solidFill>
                  <a:srgbClr val="475569"/>
                </a:solidFill>
              </a:rPr>
              <a:t>Gestores visualizam mapas, relatórios, tendências e recomendações.</a:t>
            </a:r>
            <a:endParaRPr lang="en-US" sz="860" dirty="0"/>
          </a:p>
        </p:txBody>
      </p:sp>
      <p:sp>
        <p:nvSpPr>
          <p:cNvPr id="29" name="Text 27"/>
          <p:cNvSpPr/>
          <p:nvPr/>
        </p:nvSpPr>
        <p:spPr>
          <a:xfrm>
            <a:off x="1097280" y="4983480"/>
            <a:ext cx="4572000" cy="566928"/>
          </a:xfrm>
          <a:prstGeom prst="roundRect">
            <a:avLst>
              <a:gd name="adj" fmla="val 12903"/>
            </a:avLst>
          </a:prstGeom>
          <a:solidFill>
            <a:srgbClr val="DCFCE7"/>
          </a:solidFill>
          <a:ln w="12700">
            <a:solidFill>
              <a:srgbClr val="0F766E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0F172A"/>
                </a:solidFill>
              </a:rPr>
              <a:t>Retorno ao batedor: indicadores, benefícios, orientações de descarte e estimativas de preço médio.</a:t>
            </a:r>
            <a:endParaRPr lang="en-US" sz="1250" dirty="0"/>
          </a:p>
        </p:txBody>
      </p:sp>
      <p:sp>
        <p:nvSpPr>
          <p:cNvPr id="30" name="Text 28"/>
          <p:cNvSpPr/>
          <p:nvPr/>
        </p:nvSpPr>
        <p:spPr>
          <a:xfrm>
            <a:off x="6446520" y="4983480"/>
            <a:ext cx="4572000" cy="566928"/>
          </a:xfrm>
          <a:prstGeom prst="roundRect">
            <a:avLst>
              <a:gd name="adj" fmla="val 12903"/>
            </a:avLst>
          </a:prstGeom>
          <a:solidFill>
            <a:srgbClr val="DBEAFE"/>
          </a:solidFill>
          <a:ln w="12700">
            <a:solidFill>
              <a:srgbClr val="2563EB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0F172A"/>
                </a:solidFill>
              </a:rPr>
              <a:t>Retorno à gestão pública: mapas de áreas críticas, planejamento de rotas, relatórios e monitoramento ambiental.</a:t>
            </a:r>
            <a:endParaRPr lang="en-US" sz="1250" dirty="0"/>
          </a:p>
        </p:txBody>
      </p:sp>
      <p:sp>
        <p:nvSpPr>
          <p:cNvPr id="31" name="Shape 29"/>
          <p:cNvSpPr/>
          <p:nvPr/>
        </p:nvSpPr>
        <p:spPr>
          <a:xfrm>
            <a:off x="8595360" y="4956048"/>
            <a:ext cx="-6675120" cy="-1069848"/>
          </a:xfrm>
          <a:prstGeom prst="line">
            <a:avLst/>
          </a:prstGeom>
          <a:noFill/>
          <a:ln w="13970">
            <a:solidFill>
              <a:srgbClr val="0F766E"/>
            </a:solidFill>
            <a:prstDash val="solid"/>
            <a:tailEnd type="triangle"/>
          </a:ln>
        </p:spPr>
      </p:sp>
      <p:sp>
        <p:nvSpPr>
          <p:cNvPr id="32" name="Shape 30"/>
          <p:cNvSpPr/>
          <p:nvPr/>
        </p:nvSpPr>
        <p:spPr>
          <a:xfrm>
            <a:off x="10515600" y="4919472"/>
            <a:ext cx="-3566160" cy="-1033272"/>
          </a:xfrm>
          <a:prstGeom prst="line">
            <a:avLst/>
          </a:prstGeom>
          <a:noFill/>
          <a:ln w="13970">
            <a:solidFill>
              <a:srgbClr val="2563EB"/>
            </a:solidFill>
            <a:prstDash val="solid"/>
            <a:tailEnd type="triangle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IFPA Campus Ananindeua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CAROÇO - Artefatos do arcabouço do aplicativo</dc:title>
  <dc:subject>Artefatos de documentação do aplicativo CAROÇO</dc:subject>
  <dc:creator>IFPA / Projeto CAROÇO</dc:creator>
  <cp:lastModifiedBy>IFPA / Projeto CAROÇO</cp:lastModifiedBy>
  <cp:revision>1</cp:revision>
  <dcterms:created xsi:type="dcterms:W3CDTF">2026-05-15T23:10:04Z</dcterms:created>
  <dcterms:modified xsi:type="dcterms:W3CDTF">2026-05-15T23:10:04Z</dcterms:modified>
</cp:coreProperties>
</file>